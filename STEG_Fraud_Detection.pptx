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16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v1
(Binary)</c:v>
                  </c:pt>
                  <c:pt idx="1">
                    <c:v>v2
(Proba)</c:v>
                  </c:pt>
                  <c:pt idx="2">
                    <c:v>v3
(CV Fix)</c:v>
                  </c:pt>
                  <c:pt idx="3">
                    <c:v>v4
(Blend)</c:v>
                  </c:pt>
                  <c:pt idx="4">
                    <c:v>v5
(Tuned)</c:v>
                  </c:pt>
                  <c:pt idx="5">
                    <c:v>Current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0.669</c:v>
                </c:pt>
                <c:pt idx="1">
                  <c:v>0.719</c:v>
                </c:pt>
                <c:pt idx="2">
                  <c:v>0.871</c:v>
                </c:pt>
                <c:pt idx="3">
                  <c:v>0.867</c:v>
                </c:pt>
                <c:pt idx="4">
                  <c:v>0.872</c:v>
                </c:pt>
                <c:pt idx="5">
                  <c:v>0.874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A16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5"/>
          <c:min val="0.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 Fraud Detection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to Identify Fraudulent Electricity &amp; Gas Consumption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971800"/>
            <a:ext cx="2286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Reginald  ·  Zindi Leaderboard Rank: #161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in Electricity and Gas Consumption Challenge — Zindi Africa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560320" cy="2011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88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Tunisian Dinars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fraud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1051560"/>
            <a:ext cx="2560320" cy="2011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188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135K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0" y="20116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051560"/>
            <a:ext cx="2560320" cy="2011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0" y="1188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4.5M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035040" y="20116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records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 – 2019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3375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 (Tunisian Company of Electricity and Gas) needed a way to automatically flag clients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manipulating their meters — saving revenue and reducing manual inspection costs.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3708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 Challenge: Only ~5.6% of clients are fraudsters — severe class imbalance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Table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&amp; District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Category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Creation Date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(Fraud = 1 / 0)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402336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058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Table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Date (2005–2019)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Type (ELEC / GAZ)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Levels 1–4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Status &amp; Coefficient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tables are linked by Client ID. Every invoice row represents one billing period.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965960" cy="3200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097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ID formats, remove duplicates,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recode noisy meter status codes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1005840"/>
            <a:ext cx="1965960" cy="3200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97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14600" y="1783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606040" y="233172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4.5M invoice rows into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summary row per client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1965960" cy="3200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097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63440" y="1783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233172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LightGBM + CatBoost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5-fold cross-validation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2280" y="1005840"/>
            <a:ext cx="1965960" cy="3200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12280" y="1097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812280" y="1783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&amp; Submit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03720" y="233172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model probabilities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more robust prediction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ROC-AUC — measures how well the model ranks fraudsters above genuine clients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idea: fraudsters behave differently over time. We capture that behaviour.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10972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Stats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71907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std, min, max, coefficient of variation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consumption level — for ELEC and GAZ separately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371600"/>
            <a:ext cx="10972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0328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Duration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10328" y="171907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between first and last invoice,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gap between electricity vs gas accounts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68880"/>
            <a:ext cx="10972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514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Patterns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281635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consumption per calendar month 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seasonal anomalies fraudsters create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46888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468880"/>
            <a:ext cx="10972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2514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Encoding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0328" y="281635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fraud rate of client's region, district,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category — powerful contextual signal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566160"/>
            <a:ext cx="10972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11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Trend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391363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of consumption over the years 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sudden drop in usage is a red flag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56616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566160"/>
            <a:ext cx="10972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3611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Consumption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10328" y="391363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of invoices with zero usage 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zero-rates indicate meter tampering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The Journey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6012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1051560"/>
            <a:ext cx="2834640" cy="8229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80760" y="1097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80760" y="1325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0.669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223760" y="12801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0/1 predictions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943600" y="2057400"/>
            <a:ext cx="2834640" cy="8229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80760" y="21031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Jump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80760" y="2331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223760" y="22860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probabilities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cross-validation fix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43600" y="3063240"/>
            <a:ext cx="2834640" cy="8229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3108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Score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80760" y="3337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0.874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223760" y="32918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LightGBM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ensemble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43600" y="4069080"/>
            <a:ext cx="2834640" cy="8229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80760" y="41148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080760" y="4343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#161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223760" y="42976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500+ participants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04672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430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probabilities, not hard labels — ROC-AUC rewards well-ranked scores, not binary cutoffs. This single change jumped us from 0.669 to 0.871.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8412480" cy="804672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031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0574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fixes overfitting — our validation AUC was 0.874 but leaderboard was 0.669. 5-fold CV aligned them and proved the model generalises.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8412480" cy="804672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632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301752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quality beats model complexity — adding monthly patterns and yearly trends moved the needle more than adding extra models did.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886200"/>
            <a:ext cx="8412480" cy="804672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0233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39776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must be handled explicitly — scale_pos_weight in XGBoost and class_weight='balanced' in LightGBM were essential for detecting the rare fraud cases.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close the gap from 0.874 to 0.904 (current #1 score)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10972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2646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Remark Patterns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71907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remark codes on invoices are strong indicators of meter inspection outcomes — extracting sequences of remarks per client could be very predictive.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67712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67712"/>
            <a:ext cx="10972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2257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Target Encoding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615184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region and district fraud rates inside each CV fold (not globally) prevents data leakage and should improve generalisation.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163824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163824"/>
            <a:ext cx="10972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1868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Integration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511296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handles categorical features natively without ordinal encoding — adding it as a third ensemble member typically adds 0.003–0.005 AUC.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59936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4059936"/>
            <a:ext cx="10972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11480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Anomaly Features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440740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gaps between invoices, or sudden restarts after silence, are strong indicators of meter removal and tampering.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STEG Fraud Detection</dc:title>
  <dc:subject>PptxGenJS Presentation</dc:subject>
  <dc:creator>PptxGenJS</dc:creator>
  <cp:lastModifiedBy>PptxGenJS</cp:lastModifiedBy>
  <cp:revision>1</cp:revision>
  <dcterms:created xsi:type="dcterms:W3CDTF">2026-04-26T14:40:37Z</dcterms:created>
  <dcterms:modified xsi:type="dcterms:W3CDTF">2026-04-26T14:40:37Z</dcterms:modified>
</cp:coreProperties>
</file>